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7"/>
    <p:sldId id="258" r:id="rId9"/>
    <p:sldId id="260" r:id="rId11"/>
    <p:sldId id="262" r:id="rId13"/>
    <p:sldId id="263" r:id="rId14"/>
    <p:sldId id="264" r:id="rId15"/>
    <p:sldId id="265" r:id="rId16"/>
    <p:sldId id="267" r:id="rId18"/>
    <p:sldId id="268" r:id="rId19"/>
    <p:sldId id="270" r:id="rId21"/>
    <p:sldId id="272" r:id="rId23"/>
    <p:sldId id="273" r:id="rId24"/>
    <p:sldId id="27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41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1" Type="http://schemas.openxmlformats.org/officeDocument/2006/relationships/slide" Target="slides/slide15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650DF-6A56-4683-84A0-9F4766A1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480E23-9634-4C46-9D7C-81DC9C6C16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15A4D-09F2-4B0F-A149-A6672B582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4C268-BE16-408B-909B-DE68D8FA7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94AAB-F8D0-40D9-8973-913795EFE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7819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3ECB0-CD89-43EC-B046-341439906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F5269-D411-416C-B8D8-79952D9E31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08A6E-524E-474C-86A0-720189229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B5EEB-EE6F-4F5E-AC81-D46685E08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FAAA0-40DE-4A3D-8F76-ABD65A6E4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235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7FEC7-5B63-404F-9905-ACEAD4C1F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D25BC-0B97-41E6-BF43-CAAA08D59B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FEB24-F7FA-4D31-BBE8-71023751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CBA50-B6AE-467B-9EFE-EEF613BFA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B140D-688A-4CA1-889B-A15CF777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7477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CAB71-B5BA-4EC8-84F5-9BF55177B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DD429-5479-414E-A832-71C1E3C186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91BBC6-6A25-4EC4-AB37-AF22133C3D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AD7EE0-403D-44BE-95A1-54E8A41C0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1EF1A8-15E7-490A-A0EC-8F0E2140B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6BD47C-FDD0-4534-81C0-F613CA1F2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8350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3F9C9-6D07-43A5-858A-FEAD4A946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03A8BC-1975-4828-8C90-16313039A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4E3805-00C1-43F7-9A1A-5ED7FA844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0C01AB-5A49-46D8-8E47-8A9F9AA090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6D58D-E3B9-45F0-B0CD-004D085842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A16A4C-387B-48EE-AC0A-FEDF9EA61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1112DD-8D37-4488-B45B-FE2042E3A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294F1C-BCCA-4784-BC44-1927691BA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031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234BE-8B56-4410-9C14-E37C51427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5E3E23-6F69-4FFD-8DA5-2C6FCA84D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2B299F-DFE8-45FA-815A-D25F6511C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A881E-8F3E-4B4D-95C4-EA10BA7DF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8477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3691ED-A613-4383-8AD8-AF11C0EC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3F4C779-BA81-4CE1-AE8A-C3FEC7C3F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F2FE0-54CF-4DAD-841A-E7084DE21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112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90505-B01A-4DEC-9A3A-0CFCD415F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98B7BB-E438-4323-A07A-78533491C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917714-BB80-4B98-94C2-51F73DB16E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1890E4-6F2D-49D0-9CA7-313873F67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0BCE27-4993-4BAE-98D8-5E2C42253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4D03D5-21C6-4561-BC66-3A9353765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8154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F07EB-E67D-41A4-9958-78AF4812D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8FD6CF-1CBF-4E4D-B2D6-B05E336CEB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F7BFD-FC2D-4341-883A-BDAE5A773E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737643-2A00-4731-97A3-DB59A0B9F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BB96D-0449-44C8-AF04-CD7C4B467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0138AB-290C-4C0C-BC06-D2F0AFB0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1972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4C04-DCE5-4589-83E7-0B65423F7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2EE96D-AD70-44C8-B472-851020ACC1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0226AF-845B-4276-8454-41A75ECB7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C88CE4-57A9-4558-87C7-EF4E0914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209842-5CF2-41C2-9D4D-37CE8E1CE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1181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22508C-FD32-4F96-BDBA-A56DE3AD9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7F6B02-7CEB-400B-8389-2C36289322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1A96B0-120A-4A74-99A8-355E3A51C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3140A-D65D-43BF-9CC3-4B97B0211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396D8-7534-46EC-B681-2C76F7336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243478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29556E-D839-4917-831A-DF6666A8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CD2EE8-A7AC-4562-A32A-8A5DC1DA83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EC52C-7C86-4474-B8C0-C6E9BC1B45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A65236-DF10-4D25-BC95-0C2CF9E351CA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88686-68EA-4797-BF34-26B83E37D1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B4CCA-3D0D-4701-B1AF-DDC1D659D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88D83F-A1E1-4709-801E-AF2B5CD9FC1C}" type="slidenum">
              <a:rPr lang="en-GB" smtClean="0"/>
              <a:t>‹#›</a:t>
            </a:fld>
            <a:endParaRPr lang="en-GB"/>
          </a:p>
        </p:txBody>
      </p:sp>
      <p:pic>
        <p:nvPicPr>
          <p:cNvPr id="1026" name="Picture 2" descr="https://avatars.githubusercontent.com/u/108284238?s=60&amp;v=4">
            <a:extLst>
              <a:ext uri="{FF2B5EF4-FFF2-40B4-BE49-F238E27FC236}">
                <a16:creationId xmlns:a16="http://schemas.microsoft.com/office/drawing/2014/main" id="{6CCBEEFC-210D-4C08-AFAF-C6AC361916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59020" y="6152111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087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Spatial data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7F8C8D"/>
                </a:solidFill>
              </a:rPr>
              <a:t>Vector, raster and the OGC Simple Features model</a:t>
            </a:r>
          </a:p>
          <a:p>
            <a:r>
              <a:rPr>
                <a:solidFill>
                  <a:srgbClr val="7F8C8D"/>
                </a:solidFill>
              </a:rPr>
              <a:t>Examples: Kamp-Lintfort and Frohnenbruch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Same place, two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two_model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2270"/>
            <a:ext cx="11064240" cy="40762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1106424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3A57"/>
                </a:solidFill>
              </a:rPr>
              <a:t>Vector </a:t>
            </a:r>
            <a:r>
              <a:rPr sz="1800" b="0" i="0">
                <a:solidFill>
                  <a:srgbClr val="2C3E50"/>
                </a:solidFill>
              </a:rPr>
              <a:t>models things that have a boundary and an identity. </a:t>
            </a:r>
            <a:r>
              <a:rPr sz="1800" b="1" i="0">
                <a:solidFill>
                  <a:srgbClr val="1B3A57"/>
                </a:solidFill>
              </a:rPr>
              <a:t>Raster </a:t>
            </a:r>
            <a:r>
              <a:rPr sz="1800" b="0" i="0">
                <a:solidFill>
                  <a:srgbClr val="2C3E50"/>
                </a:solidFill>
              </a:rPr>
              <a:t>models a quantity that varies everywhere in 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F8C8D"/>
                </a:solidFill>
              </a:rPr>
              <a:t>© OpenStreetMap contributors (ODbL) · Contains modified Copernicus Sentinel-2 data 2025 (13 May 2025)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B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Vector model: geometry + 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geometry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346" y="1097280"/>
            <a:ext cx="10298827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114800"/>
          <a:ext cx="5486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188720"/>
                <a:gridCol w="219456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fid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building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geometry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Freie evangelische G…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POLYGON (…)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POLYGON (…)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7" name="qgis"/>
          <p:cNvSpPr/>
          <p:nvPr/>
        </p:nvSpPr>
        <p:spPr>
          <a:xfrm>
            <a:off x="6263640" y="4114800"/>
            <a:ext cx="5349240" cy="1783080"/>
          </a:xfrm>
          <a:prstGeom prst="rect">
            <a:avLst/>
          </a:prstGeom>
          <a:solidFill>
            <a:srgbClr val="E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700" b="1">
                <a:solidFill>
                  <a:srgbClr val="2980B9"/>
                </a:solidFill>
              </a:rPr>
              <a:t>In QGIS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Layer → Add Layer → Add Vector Layer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Right-click → Open Attribute Table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Identify Features: click a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F8C8D"/>
                </a:solidFill>
              </a:rPr>
              <a:t>© OpenStreetMap contributors (ODbL)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B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Raster model: a grid of cells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raster_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615" y="1188720"/>
            <a:ext cx="5122209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29400" y="1234440"/>
            <a:ext cx="493776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Grid: </a:t>
            </a:r>
            <a:r>
              <a:rPr sz="1800" b="0" i="0">
                <a:solidFill>
                  <a:srgbClr val="2C3E50"/>
                </a:solidFill>
              </a:rPr>
              <a:t>rows × columns of cells (pixels)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Cell size: </a:t>
            </a:r>
            <a:r>
              <a:rPr sz="1800" b="0" i="0">
                <a:solidFill>
                  <a:srgbClr val="2C3E50"/>
                </a:solidFill>
              </a:rPr>
              <a:t>resolution, here 10 m × 10 m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Bands: </a:t>
            </a:r>
            <a:r>
              <a:rPr sz="1800" b="0" i="0">
                <a:solidFill>
                  <a:srgbClr val="2C3E50"/>
                </a:solidFill>
              </a:rPr>
              <a:t>several values per cell (B02 … B08)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NoData: </a:t>
            </a:r>
            <a:r>
              <a:rPr sz="1800" b="0" i="0">
                <a:solidFill>
                  <a:srgbClr val="2C3E50"/>
                </a:solidFill>
              </a:rPr>
              <a:t>a value that means ‘no measurement’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CRS + origin: </a:t>
            </a:r>
            <a:r>
              <a:rPr sz="1800" b="0" i="0">
                <a:solidFill>
                  <a:srgbClr val="2C3E50"/>
                </a:solidFill>
              </a:rPr>
              <a:t>place the grid on the Earth</a:t>
            </a:r>
          </a:p>
        </p:txBody>
      </p:sp>
      <p:sp>
        <p:nvSpPr>
          <p:cNvPr id="7" name="qgis"/>
          <p:cNvSpPr/>
          <p:nvPr/>
        </p:nvSpPr>
        <p:spPr>
          <a:xfrm>
            <a:off x="6629400" y="3703320"/>
            <a:ext cx="4983480" cy="2240280"/>
          </a:xfrm>
          <a:prstGeom prst="rect">
            <a:avLst/>
          </a:prstGeom>
          <a:solidFill>
            <a:srgbClr val="E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700" b="1">
                <a:solidFill>
                  <a:srgbClr val="2980B9"/>
                </a:solidFill>
              </a:rPr>
              <a:t>In QGIS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Layer Properties → Information: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size, pixel size, CRS, bands, NoData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Identify Features: values of a pixel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Zoom in until you see the cells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F8C8D"/>
                </a:solidFill>
              </a:rPr>
              <a:t>Contains modified Copernicus Sentinel-2 data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Resolution decides what you can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resolution_clc_world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25724"/>
            <a:ext cx="11064240" cy="42808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F8C8D"/>
                </a:solidFill>
              </a:rPr>
              <a:t>CORINE Land Cover 2018, © European Union, Copernicus Land Monitoring Service, EEA · ESA WorldCover 10 m 2021 v200 (CC BY 4.0)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Vector or raster?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4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09160"/>
                <a:gridCol w="470916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Vector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Raster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Models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discrete objects with identity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continuous fields, images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Geometry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points, lines, polygons (exact coordinates)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regular grid, cell size = resolution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Attributes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many columns per feature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one value per cell and band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Strong at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topology, networks, precise boundaries, cartography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map algebra, surfaces, remote sensing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Weak at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continuous variation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sharp boundaries, storage of sparse data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Formats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GeoPackage, GeoJSON, Shapefile, PostGIS, FlatGeobuf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GeoTIFF / COG, NetCDF, Zarr, JPEG2000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Python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shapely, GeoPandas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rasterio, xarray / rioxarray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File formats you will meet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286000"/>
                <a:gridCol w="4754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Files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Good to know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GeoPackage (.gpkg)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vector + raster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 (SQLite)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many layers, long field names, OGC standard: our default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Shapefile (.shp)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vector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3–7 (.shp .shx .dbf .prj …)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one layer, field names ≤ 10 characters, 2 GB limit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GeoJSON (.geojson)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vector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 (text)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web, always WGS 84 lon/lat (RFC 7946), large files get slow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CSV with x/y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points only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 (text)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no CRS stored: you must know it; keys as text (leading zeros)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GeoTIFF / COG (.tif)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raster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bands + georeference; COG = cloud-optimised, read in pieces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NetCDF / Zarr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raster cubes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1 / folder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time series of grids (climate, RADOLAN)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3A57"/>
                </a:solidFill>
              </a:rPr>
              <a:t>Rule of thumb: </a:t>
            </a:r>
            <a:r>
              <a:rPr sz="1800" b="0" i="0">
                <a:solidFill>
                  <a:srgbClr val="2C3E50"/>
                </a:solidFill>
              </a:rPr>
              <a:t>GeoPackage for vector exchange, GeoTIFF/COG for rasters, PostGIS when many people work on the same data (geo0840).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B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Attribute types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6583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Pitfall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text (string)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name = 'Haus Frohnenbruch', KN = '05170020'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keys stay text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integer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building:levels = 2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no decimals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decimal (real)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area_ha = 6315.2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unit in the field name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date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survey_date = 2025-05-13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CSV import may read text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2C3E50"/>
                          </a:solidFill>
                        </a:rPr>
                        <a:t>boolean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active = true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Shapefile has none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498079" y="1280160"/>
            <a:ext cx="4114800" cy="1828800"/>
          </a:xfrm>
          <a:prstGeom prst="roundRect">
            <a:avLst/>
          </a:prstGeom>
          <a:solidFill>
            <a:srgbClr val="F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600" b="1" i="0">
                <a:solidFill>
                  <a:srgbClr val="8E44AD"/>
                </a:solidFill>
              </a:rPr>
              <a:t>'05170020' → 5170020</a:t>
            </a:r>
          </a:p>
          <a:p>
            <a:pPr algn="ctr"/>
            <a:r>
              <a:rPr sz="1800" b="0" i="1">
                <a:solidFill>
                  <a:srgbClr val="8E44AD"/>
                </a:solidFill>
              </a:rPr>
              <a:t>a key read as a number loses its leading zero</a:t>
            </a:r>
          </a:p>
        </p:txBody>
      </p:sp>
      <p:sp>
        <p:nvSpPr>
          <p:cNvPr id="7" name="qgis"/>
          <p:cNvSpPr/>
          <p:nvPr/>
        </p:nvSpPr>
        <p:spPr>
          <a:xfrm>
            <a:off x="7498079" y="3291840"/>
            <a:ext cx="4114800" cy="2651760"/>
          </a:xfrm>
          <a:prstGeom prst="rect">
            <a:avLst/>
          </a:prstGeom>
          <a:solidFill>
            <a:srgbClr val="E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700" b="1">
                <a:solidFill>
                  <a:srgbClr val="2980B9"/>
                </a:solidFill>
              </a:rPr>
              <a:t>In QGIS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Layer Properties → Fields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CSV import: untick ‘Detect field types’ for keys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Field Calculator: to_string(), to_int()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Seven geometry types, written as WKT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sf_gall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06055"/>
            <a:ext cx="11064240" cy="1485569"/>
          </a:xfrm>
          <a:prstGeom prst="rect">
            <a:avLst/>
          </a:prstGeom>
        </p:spPr>
      </p:pic>
      <p:sp>
        <p:nvSpPr>
          <p:cNvPr id="6" name="code"/>
          <p:cNvSpPr/>
          <p:nvPr/>
        </p:nvSpPr>
        <p:spPr>
          <a:xfrm>
            <a:off x="548640" y="3337560"/>
            <a:ext cx="11064240" cy="2057400"/>
          </a:xfrm>
          <a:prstGeom prst="rect">
            <a:avLst/>
          </a:prstGeom>
          <a:solidFill>
            <a:srgbClr val="EC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POINT (2 2)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LINESTRING (0 0, 1.5 2.5, 3 1, 4 3)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POLYGON ((0 0, 4 0, 4 3, 0 3, 0 0), (1 1, 2 1, 2 2, 1 2, 1 1))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MULTIPOINT ((0.5 0.5), (2 2.5), (3.5 1))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MULTILINESTRING ((0 0.5, 2 2.5), (2.5 0.5, 4 2))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MULTIPOLYGON (((0 0, 1.5 0, 1.5 1.5, 0 1.5, 0 0)), ((2 1.5, 4 1.5, 3 3, 2 1.5)))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2C3E50"/>
                </a:solidFill>
                <a:latin typeface="Courier New"/>
              </a:rPr>
              <a:t>GEOMETRYCOLLECTION (POINT (0.5 2.5), LINESTRING (0 0, 2 1.5), POLYGON ((3 1, 4 1, 4 2, 3 1)))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7F8C8D"/>
                </a:solidFill>
                <a:latin typeface="Courier New"/>
              </a:rPr>
              <a:t>g = shapely.wkt.loads("POINT (2 2)");  g.wkt, g.wkb_hex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B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Valid geometries: rules of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sf_valid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47772"/>
            <a:ext cx="11064240" cy="24422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53949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600"/>
              </a:spcAft>
              <a:buChar char="•"/>
            </a:pPr>
            <a:r>
              <a:rPr sz="1800" b="0" i="0">
                <a:solidFill>
                  <a:srgbClr val="2C3E50"/>
                </a:solidFill>
              </a:rPr>
              <a:t>Rings are closed and do not cross themselves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1800" b="0" i="0">
                <a:solidFill>
                  <a:srgbClr val="2C3E50"/>
                </a:solidFill>
              </a:rPr>
              <a:t>Holes lie inside the shell, touching it in one point at most</a:t>
            </a:r>
          </a:p>
          <a:p>
            <a:pPr algn="l" marL="256032" indent="-228600">
              <a:spcAft>
                <a:spcPts val="600"/>
              </a:spcAft>
              <a:buChar char="•"/>
            </a:pPr>
            <a:r>
              <a:rPr sz="1800" b="0" i="0">
                <a:solidFill>
                  <a:srgbClr val="2C3E50"/>
                </a:solidFill>
              </a:rPr>
              <a:t>Parts of a MultiPolygon do not overlap</a:t>
            </a:r>
          </a:p>
        </p:txBody>
      </p:sp>
      <p:sp>
        <p:nvSpPr>
          <p:cNvPr id="7" name="qgis"/>
          <p:cNvSpPr/>
          <p:nvPr/>
        </p:nvSpPr>
        <p:spPr>
          <a:xfrm>
            <a:off x="6126480" y="4023360"/>
            <a:ext cx="5486400" cy="1645920"/>
          </a:xfrm>
          <a:prstGeom prst="rect">
            <a:avLst/>
          </a:prstGeom>
          <a:solidFill>
            <a:srgbClr val="E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700" b="1">
                <a:solidFill>
                  <a:srgbClr val="2980B9"/>
                </a:solidFill>
              </a:rPr>
              <a:t>In QGIS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Vector → Geometry Tools → Check Validity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Processing → Fix geometries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B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Spatial relationships between objects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de9im_predic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188"/>
            <a:ext cx="11064240" cy="2013062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703320"/>
          <a:ext cx="6217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1148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Relationship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means</a:t>
                      </a:r>
                    </a:p>
                  </a:txBody>
                  <a:tcPr marL="73152" marR="73152" marT="27432" marB="27432" anchor="ctr">
                    <a:solidFill>
                      <a:srgbClr val="1B3A5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disjoint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no common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touches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common boundary, no common interior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overlaps / crosses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share part of the interior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within / contains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one lies completely inside the other</a:t>
                      </a:r>
                    </a:p>
                  </a:txBody>
                  <a:tcPr marL="73152" marR="73152" marT="27432" marB="27432" anchor="ctr">
                    <a:solidFill>
                      <a:srgbClr val="ECF0F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intersects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C3E50"/>
                          </a:solidFill>
                        </a:rPr>
                        <a:t>anything but disjoint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qgis"/>
          <p:cNvSpPr/>
          <p:nvPr/>
        </p:nvSpPr>
        <p:spPr>
          <a:xfrm>
            <a:off x="6949440" y="3703320"/>
            <a:ext cx="4663440" cy="2240280"/>
          </a:xfrm>
          <a:prstGeom prst="rect">
            <a:avLst/>
          </a:prstGeom>
          <a:solidFill>
            <a:srgbClr val="E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73152" bIns="73152"/>
          <a:lstStyle/>
          <a:p>
            <a:pPr algn="l"/>
            <a:r>
              <a:rPr sz="1700" b="1">
                <a:solidFill>
                  <a:srgbClr val="2980B9"/>
                </a:solidFill>
              </a:rPr>
              <a:t>In QGIS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Vector → Research Tools →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   Select by Location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Processing → Join attributes</a:t>
            </a:r>
          </a:p>
          <a:p>
            <a:pPr algn="l">
              <a:spcBef>
                <a:spcPts val="300"/>
              </a:spcBef>
            </a:pPr>
            <a:r>
              <a:rPr sz="1600" b="0">
                <a:solidFill>
                  <a:srgbClr val="2C3E50"/>
                </a:solidFill>
              </a:rPr>
              <a:t>   by location (within, …)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Thinking in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pic>
        <p:nvPicPr>
          <p:cNvPr id="5" name="Picture 4" descr="stack_ve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9356" y="1143000"/>
            <a:ext cx="3304967" cy="4480560"/>
          </a:xfrm>
          <a:prstGeom prst="rect">
            <a:avLst/>
          </a:prstGeom>
        </p:spPr>
      </p:pic>
      <p:pic>
        <p:nvPicPr>
          <p:cNvPr id="6" name="Picture 5" descr="stack_rast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3019" y="1143000"/>
            <a:ext cx="3593320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23560"/>
            <a:ext cx="54864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3A57"/>
                </a:solidFill>
              </a:rPr>
              <a:t>Vector stack: </a:t>
            </a:r>
            <a:r>
              <a:rPr sz="1800" b="0" i="0">
                <a:solidFill>
                  <a:srgbClr val="2C3E50"/>
                </a:solidFill>
              </a:rPr>
              <a:t>overlay geometries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5623560"/>
            <a:ext cx="54864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3A57"/>
                </a:solidFill>
              </a:rPr>
              <a:t>Raster stack: </a:t>
            </a:r>
            <a:r>
              <a:rPr sz="1800" b="0" i="0">
                <a:solidFill>
                  <a:srgbClr val="2C3E50"/>
                </a:solidFill>
              </a:rPr>
              <a:t>combine aligned cells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53328"/>
            <a:ext cx="106070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7F8C8D"/>
                </a:solidFill>
              </a:rPr>
              <a:t>© OpenStreetMap contributors (ODbL) · Contains modified Copernicus Sentinel-2 data 2025 · ESA WorldCover 10 m 2021 v200 (CC BY 4.0)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evel-B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Take-aways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sp>
        <p:nvSpPr>
          <p:cNvPr id="5" name="Oval 4"/>
          <p:cNvSpPr/>
          <p:nvPr/>
        </p:nvSpPr>
        <p:spPr>
          <a:xfrm>
            <a:off x="548640" y="1325880"/>
            <a:ext cx="685800" cy="6858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9304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B3A57"/>
                </a:solidFill>
              </a:rPr>
              <a:t>Two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73352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C3E50"/>
                </a:solidFill>
              </a:rPr>
              <a:t>Vector for objects, raster for fields; the question and the scale decide.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23160"/>
            <a:ext cx="685800" cy="6858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386584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B3A57"/>
                </a:solidFill>
              </a:rPr>
              <a:t>Formats and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70632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C3E50"/>
                </a:solidFill>
              </a:rPr>
              <a:t>GeoPackage and GeoTIFF; keys as text, know the CRS of a CSV.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20439"/>
            <a:ext cx="685800" cy="6858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483863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B3A57"/>
                </a:solidFill>
              </a:rPr>
              <a:t>Valid geometries + relationships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867911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C3E50"/>
                </a:solidFill>
              </a:rPr>
              <a:t>Check validity before analysis; select and join by location.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85800" cy="685800"/>
          </a:xfrm>
          <a:prstGeom prst="ellipse">
            <a:avLst/>
          </a:prstGeom>
          <a:solidFill>
            <a:srgbClr val="298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581144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B3A57"/>
                </a:solidFill>
              </a:rPr>
              <a:t>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965192"/>
            <a:ext cx="10058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C3E50"/>
                </a:solidFill>
              </a:rPr>
              <a:t>Same CRS, same extent: the precondition for overlay and map algebra.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91672" cy="822960"/>
          </a:xfrm>
        </p:spPr>
        <p:txBody>
          <a:bodyPr anchor="ctr"/>
          <a:lstStyle/>
          <a:p>
            <a:r>
              <a:rPr sz="3200" b="1">
                <a:solidFill>
                  <a:srgbClr val="1B3A57"/>
                </a:solidFill>
              </a:rPr>
              <a:t>Sources and further reading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27648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>geo0160 · Spatial data models · opengeo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6327648"/>
            <a:ext cx="10972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7F8C8D"/>
                </a:solidFill>
              </a:rPr>
              <a:t/>
            </a:r>
            <a:fld id="{B6F15528-21DE-4FAA-801E-634DDDAF4B2B}" type="slidenum">
              <a:rPr lang="en-US" sz="1000">
                <a:solidFill>
                  <a:srgbClr val="7F8C8D"/>
                </a:solidFill>
              </a:rPr>
              <a:t>‹#›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256032" indent="-228600">
              <a:spcAft>
                <a:spcPts val="12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Standards: </a:t>
            </a:r>
            <a:r>
              <a:rPr sz="1800" b="0" i="0">
                <a:solidFill>
                  <a:srgbClr val="2C3E50"/>
                </a:solidFill>
              </a:rPr>
              <a:t>OGC 06-103r4 Simple Feature Access Part 1 (ISO 19125-1); OGC GeoPackage 1.4; DE-9IM: Clementini, Di Felice &amp; van Oosterom (1993)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Data: </a:t>
            </a:r>
            <a:r>
              <a:rPr sz="1800" b="0" i="0">
                <a:solidFill>
                  <a:srgbClr val="2C3E50"/>
                </a:solidFill>
              </a:rPr>
              <a:t>© OpenStreetMap contributors (ODbL); Contains modified Copernicus Sentinel-2 data 2025, scene S2A_32ULC_20250513 via Earth Search STAC; CORINE Land Cover 2018, © European Union, Copernicus Land Monitoring Service, EEA; ESA WorldCover 10 m 2021 v200 (CC BY 4.0)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Further reading (links): </a:t>
            </a:r>
            <a:r>
              <a:rPr sz="1800" b="0" i="0">
                <a:solidFill>
                  <a:srgbClr val="2C3E50"/>
                </a:solidFill>
              </a:rPr>
              <a:t>Geo-Python and Automating GIS Processes (Univ. of Helsinki); pythongis.org (Tenkanen, Heikinheimo, Whipp); Shapely and GeoPandas user guides; QGIS Training Manual – vector and raster chapters</a:t>
            </a:r>
          </a:p>
          <a:p>
            <a:pPr algn="l" marL="256032" indent="-228600">
              <a:spcAft>
                <a:spcPts val="1200"/>
              </a:spcAft>
              <a:buChar char="•"/>
            </a:pPr>
            <a:r>
              <a:rPr sz="1800" b="1" i="0">
                <a:solidFill>
                  <a:srgbClr val="2C3E50"/>
                </a:solidFill>
              </a:rPr>
              <a:t>Figures: </a:t>
            </a:r>
            <a:r>
              <a:rPr sz="1800" b="0" i="0">
                <a:solidFill>
                  <a:srgbClr val="2C3E50"/>
                </a:solidFill>
              </a:rPr>
              <a:t>own work, generated with shapely, GeoPandas, rasterio and matplotlib (make_slides.py)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Becker, Rolf</dc:creator>
  <cp:lastModifiedBy>Becker, Rolf</cp:lastModifiedBy>
  <cp:revision>1</cp:revision>
  <dcterms:created xsi:type="dcterms:W3CDTF">2026-10-06T06:25:10Z</dcterms:created>
  <dcterms:modified xsi:type="dcterms:W3CDTF">2026-10-06T06:26:14Z</dcterms:modified>
</cp:coreProperties>
</file>